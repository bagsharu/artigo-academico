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Verdana Bold" charset="1" panose="020B0804030504040204"/>
      <p:regular r:id="rId16"/>
    </p:embeddedFont>
    <p:embeddedFont>
      <p:font typeface="Verdana" charset="1" panose="020B0604030504040204"/>
      <p:regular r:id="rId17"/>
    </p:embeddedFont>
    <p:embeddedFont>
      <p:font typeface="Segoe UI" charset="1" panose="020B0502040204020203"/>
      <p:regular r:id="rId18"/>
    </p:embeddedFont>
    <p:embeddedFont>
      <p:font typeface="Segoe UI Bold" charset="1" panose="020B0802040204020203"/>
      <p:regular r:id="rId19"/>
    </p:embeddedFont>
    <p:embeddedFont>
      <p:font typeface="Verdana Italics" charset="1" panose="020B06040305040B0204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Relationship Id="rId3" Target="../media/image2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funil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0127456" y="4145756"/>
            <a:ext cx="6650831" cy="1995488"/>
            <a:chOff x="0" y="0"/>
            <a:chExt cx="8867775" cy="2660650"/>
          </a:xfrm>
        </p:grpSpPr>
        <p:sp>
          <p:nvSpPr>
            <p:cNvPr name="Freeform 5" id="5" descr="Logotipo  Descrição gerada automaticamente com confiança baixa"/>
            <p:cNvSpPr/>
            <p:nvPr/>
          </p:nvSpPr>
          <p:spPr>
            <a:xfrm flipH="false" flipV="false" rot="0">
              <a:off x="0" y="0"/>
              <a:ext cx="8867775" cy="2660650"/>
            </a:xfrm>
            <a:custGeom>
              <a:avLst/>
              <a:gdLst/>
              <a:ahLst/>
              <a:cxnLst/>
              <a:rect r="r" b="b" t="t" l="l"/>
              <a:pathLst>
                <a:path h="2660650" w="8867775">
                  <a:moveTo>
                    <a:pt x="0" y="0"/>
                  </a:moveTo>
                  <a:lnTo>
                    <a:pt x="8867775" y="0"/>
                  </a:lnTo>
                  <a:lnTo>
                    <a:pt x="8867775" y="2660650"/>
                  </a:lnTo>
                  <a:lnTo>
                    <a:pt x="0" y="266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9" b="0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0" y="4312920"/>
            <a:ext cx="9203531" cy="1371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Inclusao digital na Era Digital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982955" y="3401911"/>
            <a:ext cx="4669479" cy="1333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60"/>
              </a:lnSpc>
            </a:pPr>
            <a:r>
              <a:rPr lang="en-US" sz="18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Profa. Isabella Luiza Dos Santos Souza</a:t>
            </a:r>
          </a:p>
          <a:p>
            <a:pPr algn="l">
              <a:lnSpc>
                <a:spcPts val="2160"/>
              </a:lnSpc>
            </a:pP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Bruna da Silva Sant`Ana</a:t>
            </a:r>
          </a:p>
          <a:p>
            <a:pPr algn="l">
              <a:lnSpc>
                <a:spcPts val="2160"/>
              </a:lnSpc>
            </a:pPr>
            <a:r>
              <a:rPr lang="en-US" sz="1800">
                <a:solidFill>
                  <a:srgbClr val="153553"/>
                </a:solidFill>
                <a:latin typeface="Verdana"/>
                <a:ea typeface="Verdana"/>
                <a:cs typeface="Verdana"/>
                <a:sym typeface="Verdana"/>
              </a:rPr>
              <a:t>Gabriel Ortega Vieira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131365" y="9085497"/>
            <a:ext cx="4384805" cy="314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b="true">
                <a:solidFill>
                  <a:srgbClr val="FFFFFF"/>
                </a:solidFill>
                <a:latin typeface="Verdana Bold"/>
                <a:ea typeface="Verdana Bold"/>
                <a:cs typeface="Verdana Bold"/>
                <a:sym typeface="Verdana Bold"/>
              </a:rPr>
              <a:t>CIENCIA DA COMPUTACAO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907765" y="5871475"/>
            <a:ext cx="6896907" cy="2286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1800"/>
              </a:lnSpc>
            </a:pPr>
            <a:r>
              <a:rPr lang="en-US" sz="1500" b="true">
                <a:solidFill>
                  <a:srgbClr val="FF0000"/>
                </a:solidFill>
                <a:latin typeface="Verdana Bold"/>
                <a:ea typeface="Verdana Bold"/>
                <a:cs typeface="Verdana Bold"/>
                <a:sym typeface="Verdana Bold"/>
              </a:rPr>
              <a:t>Inclusão digital - Desigualdade social - Acessibilidade digital.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6792516" y="8896607"/>
            <a:ext cx="2012156" cy="604838"/>
            <a:chOff x="0" y="0"/>
            <a:chExt cx="2682875" cy="806450"/>
          </a:xfrm>
        </p:grpSpPr>
        <p:sp>
          <p:nvSpPr>
            <p:cNvPr name="Freeform 9" id="9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15206986" y="7946861"/>
            <a:ext cx="1445447" cy="409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sz="27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2026.2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1059" y="3050858"/>
            <a:ext cx="9013507" cy="486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2100" b="true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PROBLEMATICA: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Desigualdade no acesso à internet e aos dispositivos tecnológicos.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Dificuldades de letramento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digital e acessibilidade.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Exclusão de populações vulneráveis dos serviços digitais.</a:t>
            </a:r>
          </a:p>
          <a:p>
            <a:pPr algn="l">
              <a:lnSpc>
                <a:spcPts val="2268"/>
              </a:lnSpc>
            </a:pPr>
          </a:p>
          <a:p>
            <a:pPr algn="l">
              <a:lnSpc>
                <a:spcPts val="2268"/>
              </a:lnSpc>
            </a:pPr>
            <a:r>
              <a:rPr lang="en-US" sz="2100" b="true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JUSTIFICATIVA: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Digitalização crescente de serviços essenciais.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Impactos da exclusão digital na cidadania e nas oportunidades.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Importância de tecnologias acessíveis e inclusivas.</a:t>
            </a:r>
          </a:p>
          <a:p>
            <a:pPr algn="l">
              <a:lnSpc>
                <a:spcPts val="226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262938" y="9046369"/>
            <a:ext cx="2012156" cy="604838"/>
            <a:chOff x="0" y="0"/>
            <a:chExt cx="2682875" cy="806450"/>
          </a:xfrm>
        </p:grpSpPr>
        <p:sp>
          <p:nvSpPr>
            <p:cNvPr name="Freeform 6" id="6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51059" y="955357"/>
            <a:ext cx="6210776" cy="73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INTRODUÇÃO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1059" y="3050858"/>
            <a:ext cx="9013507" cy="6004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268"/>
              </a:lnSpc>
            </a:pPr>
            <a:r>
              <a:rPr lang="en-US" sz="2100" b="true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OBJETIVO GERAL: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Analisar os impactos da exclusão digital sobre populações vulneráveis e sua relação com as desigualdades sociais e como o desenvolvimento de software pode ajudar a reduzir tais barreiras.</a:t>
            </a:r>
          </a:p>
          <a:p>
            <a:pPr algn="l">
              <a:lnSpc>
                <a:spcPts val="2268"/>
              </a:lnSpc>
            </a:pPr>
          </a:p>
          <a:p>
            <a:pPr algn="l">
              <a:lnSpc>
                <a:spcPts val="2268"/>
              </a:lnSpc>
            </a:pPr>
            <a:r>
              <a:rPr lang="en-US" sz="2100" b="true">
                <a:solidFill>
                  <a:srgbClr val="000000"/>
                </a:solidFill>
                <a:latin typeface="Verdana Bold"/>
                <a:ea typeface="Verdana Bold"/>
                <a:cs typeface="Verdana Bold"/>
                <a:sym typeface="Verdana Bold"/>
              </a:rPr>
              <a:t>OBJETIVOS ESPECIFICOS: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Identificar barreiras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econômicas, educacionais e tecnológicas.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Investigar a importância do letramento e da acessibilidade digital.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Relacionar exclusão digital e dificuldades de acesso a serviços essenciais.</a:t>
            </a:r>
          </a:p>
          <a:p>
            <a:pPr algn="l">
              <a:lnSpc>
                <a:spcPts val="2268"/>
              </a:lnSpc>
            </a:pP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Refletir sobre o papel do desenvolvimento de software na inclusão digital.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262938" y="9046369"/>
            <a:ext cx="2012156" cy="604838"/>
            <a:chOff x="0" y="0"/>
            <a:chExt cx="2682875" cy="806450"/>
          </a:xfrm>
        </p:grpSpPr>
        <p:sp>
          <p:nvSpPr>
            <p:cNvPr name="Freeform 6" id="6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851059" y="955357"/>
            <a:ext cx="6210776" cy="7395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INTRODUÇÃO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363825" y="9046369"/>
            <a:ext cx="2012156" cy="604838"/>
            <a:chOff x="0" y="0"/>
            <a:chExt cx="2682875" cy="806450"/>
          </a:xfrm>
        </p:grpSpPr>
        <p:sp>
          <p:nvSpPr>
            <p:cNvPr name="Freeform 5" id="5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36543" y="1212532"/>
            <a:ext cx="7741920" cy="143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METODOLOGIA/MÉTODO DA PESQUISA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36543" y="4153443"/>
            <a:ext cx="9013507" cy="29081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16"/>
              </a:lnSpc>
            </a:pPr>
            <a:r>
              <a:rPr lang="en-US" sz="27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O trabalho utiliza uma </a:t>
            </a:r>
            <a:r>
              <a:rPr lang="en-US" sz="270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revisão narrativa da literatura</a:t>
            </a:r>
            <a:r>
              <a:rPr lang="en-US" sz="27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, com abordagem qualitativa e caráter exploratório, a partir de três artigos científicos publicados entre </a:t>
            </a:r>
            <a:r>
              <a:rPr lang="en-US" sz="2700" b="true">
                <a:solidFill>
                  <a:srgbClr val="000000"/>
                </a:solidFill>
                <a:latin typeface="Segoe UI Bold"/>
                <a:ea typeface="Segoe UI Bold"/>
                <a:cs typeface="Segoe UI Bold"/>
                <a:sym typeface="Segoe UI Bold"/>
              </a:rPr>
              <a:t>2023 e 2025</a:t>
            </a:r>
            <a:r>
              <a:rPr lang="en-US" sz="27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.</a:t>
            </a:r>
          </a:p>
          <a:p>
            <a:pPr algn="just">
              <a:lnSpc>
                <a:spcPts val="2916"/>
              </a:lnSpc>
            </a:pPr>
          </a:p>
          <a:p>
            <a:pPr algn="just">
              <a:lnSpc>
                <a:spcPts val="2916"/>
              </a:lnSpc>
            </a:pPr>
            <a:r>
              <a:rPr lang="en-US" sz="2700">
                <a:solidFill>
                  <a:srgbClr val="000000"/>
                </a:solidFill>
                <a:latin typeface="Segoe UI"/>
                <a:ea typeface="Segoe UI"/>
                <a:cs typeface="Segoe UI"/>
                <a:sym typeface="Segoe UI"/>
              </a:rPr>
              <a:t>Pesquisa organizada por leitura dos estudos, fichamentos individuais elaboração de uma matriz de síntese e redação de um artigo com análise crítica. Não se trata de uma revisão sistemática nem de uma pesquisa de campo.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8262938" y="9046369"/>
            <a:ext cx="2012156" cy="604838"/>
            <a:chOff x="0" y="0"/>
            <a:chExt cx="2682875" cy="806450"/>
          </a:xfrm>
        </p:grpSpPr>
        <p:sp>
          <p:nvSpPr>
            <p:cNvPr name="Freeform 5" id="5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51059" y="955357"/>
            <a:ext cx="6210776" cy="143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FUNDAMENTAÇÃO TEÓRICA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51059" y="3050858"/>
            <a:ext cx="9013507" cy="2575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Exclusão digital e desigualdade social — Yamin e Gaviraghi (2023).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Letramento tecnológico em contextos vulneráveis —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Souza et al. (2025).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Cidadania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digital e democracia — Haddad (2025).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5447169" y="9232106"/>
            <a:ext cx="2012156" cy="604838"/>
            <a:chOff x="0" y="0"/>
            <a:chExt cx="2682875" cy="806450"/>
          </a:xfrm>
        </p:grpSpPr>
        <p:sp>
          <p:nvSpPr>
            <p:cNvPr name="Freeform 5" id="5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6" id="6"/>
          <p:cNvSpPr txBox="true"/>
          <p:nvPr/>
        </p:nvSpPr>
        <p:spPr>
          <a:xfrm rot="0">
            <a:off x="8354378" y="1312545"/>
            <a:ext cx="6210776" cy="143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CONSIDERAÇÕES FINAIS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54378" y="3386614"/>
            <a:ext cx="9013507" cy="40039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acesso à tecnologia não garante, por si só, a inclusão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digital.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Barreiras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econômicas e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 educacionais intensificam a exclusão digital.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letramento digital e a acessibilidade são fundamentais para a autonomia.</a:t>
            </a:r>
          </a:p>
          <a:p>
            <a:pPr algn="l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O desenvolvimento de software deve priorizar a inclusão e a acessibilidade.</a:t>
            </a:r>
          </a:p>
          <a:p>
            <a:pPr algn="l">
              <a:lnSpc>
                <a:spcPts val="2268"/>
              </a:lnSpc>
            </a:pPr>
          </a:p>
          <a:p>
            <a:pPr algn="l" marL="453390" indent="-226695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Políticas públicas e iniciativas educacionais são essenciais para reduzir desigualdades.</a:t>
            </a:r>
          </a:p>
          <a:p>
            <a:pPr algn="l" marL="380048" indent="-190024" lvl="1">
              <a:lnSpc>
                <a:spcPts val="2268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1080000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Gráfico, Gráfico de barras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851059" y="3293745"/>
            <a:ext cx="9013507" cy="42896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SOUZ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A, Alcian Pereira de et al. (2025). Inclusão digital e letramento tecnológico em contextos vulneráveis. Revista DCS, v. 22, n. 81, p. 1–12.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Y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AMIN, Estêvão; GAVIRAGHI, Fabio Jardel (2023). Questão social, brecha digital e tecnologia: expressões de desigualdade na sociedade da informação. Serviço Social &amp; Sociedade, v. 146, n. 3, e6628318.</a:t>
            </a:r>
          </a:p>
          <a:p>
            <a:pPr algn="l" marL="380048" indent="-190024" lvl="1">
              <a:lnSpc>
                <a:spcPts val="2268"/>
              </a:lnSpc>
            </a:pPr>
          </a:p>
          <a:p>
            <a:pPr algn="l" marL="380048" indent="-190024" lvl="1">
              <a:lnSpc>
                <a:spcPts val="2268"/>
              </a:lnSpc>
              <a:buFont typeface="Arial"/>
              <a:buChar char="•"/>
            </a:pP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H</a:t>
            </a:r>
            <a:r>
              <a:rPr lang="en-US" sz="2100">
                <a:solidFill>
                  <a:srgbClr val="000000"/>
                </a:solidFill>
                <a:latin typeface="Verdana"/>
                <a:ea typeface="Verdana"/>
                <a:cs typeface="Verdana"/>
                <a:sym typeface="Verdana"/>
              </a:rPr>
              <a:t>ADDAD, Samir Rodrigues (2025). Cidadania digital e democracia: modelo de avaliação de iniciativas públicas de inclusão digital. Cadernos Metrópole, v. 27, n. 63, e6368006.</a:t>
            </a:r>
          </a:p>
          <a:p>
            <a:pPr algn="l">
              <a:lnSpc>
                <a:spcPts val="2268"/>
              </a:lnSpc>
            </a:pPr>
          </a:p>
          <a:p>
            <a:pPr algn="l">
              <a:lnSpc>
                <a:spcPts val="2268"/>
              </a:lnSpc>
            </a:pPr>
          </a:p>
        </p:txBody>
      </p:sp>
      <p:grpSp>
        <p:nvGrpSpPr>
          <p:cNvPr name="Group 5" id="5"/>
          <p:cNvGrpSpPr/>
          <p:nvPr/>
        </p:nvGrpSpPr>
        <p:grpSpPr>
          <a:xfrm rot="0">
            <a:off x="8262938" y="9046369"/>
            <a:ext cx="2012156" cy="604838"/>
            <a:chOff x="0" y="0"/>
            <a:chExt cx="2682875" cy="806450"/>
          </a:xfrm>
        </p:grpSpPr>
        <p:sp>
          <p:nvSpPr>
            <p:cNvPr name="Freeform 6" id="6" descr="Logotipo  Descrição gerada automaticamente com confiança média"/>
            <p:cNvSpPr/>
            <p:nvPr/>
          </p:nvSpPr>
          <p:spPr>
            <a:xfrm flipH="false" flipV="false" rot="0">
              <a:off x="0" y="0"/>
              <a:ext cx="2682875" cy="806450"/>
            </a:xfrm>
            <a:custGeom>
              <a:avLst/>
              <a:gdLst/>
              <a:ahLst/>
              <a:cxnLst/>
              <a:rect r="r" b="b" t="t" l="l"/>
              <a:pathLst>
                <a:path h="806450" w="2682875">
                  <a:moveTo>
                    <a:pt x="0" y="0"/>
                  </a:moveTo>
                  <a:lnTo>
                    <a:pt x="2682875" y="0"/>
                  </a:lnTo>
                  <a:lnTo>
                    <a:pt x="2682875" y="806450"/>
                  </a:lnTo>
                  <a:lnTo>
                    <a:pt x="0" y="8064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93" b="0"/>
              </a:stretch>
            </a:blipFill>
          </p:spPr>
        </p:sp>
      </p:grpSp>
      <p:sp>
        <p:nvSpPr>
          <p:cNvPr name="TextBox 7" id="7"/>
          <p:cNvSpPr txBox="true"/>
          <p:nvPr/>
        </p:nvSpPr>
        <p:spPr>
          <a:xfrm rot="0">
            <a:off x="947499" y="1312545"/>
            <a:ext cx="6210776" cy="1432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00"/>
              </a:lnSpc>
            </a:pPr>
            <a:r>
              <a:rPr lang="en-US" sz="4500" b="true">
                <a:solidFill>
                  <a:srgbClr val="153553"/>
                </a:solidFill>
                <a:latin typeface="Verdana Bold"/>
                <a:ea typeface="Verdana Bold"/>
                <a:cs typeface="Verdana Bold"/>
                <a:sym typeface="Verdana Bold"/>
              </a:rPr>
              <a:t>REFERÊNCIA BIBLIOGRÁFICA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Uma imagem contendo Retângulo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304584" y="3705225"/>
            <a:ext cx="11678833" cy="288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9"/>
              </a:lnSpc>
            </a:pPr>
            <a:r>
              <a:rPr lang="en-US" sz="4800" i="true">
                <a:solidFill>
                  <a:srgbClr val="FFFFFF"/>
                </a:solidFill>
                <a:latin typeface="Verdana Italics"/>
                <a:ea typeface="Verdana Italics"/>
                <a:cs typeface="Verdana Italics"/>
                <a:sym typeface="Verdana Italics"/>
              </a:rPr>
              <a:t>A inclusão digital vai além do acesso à tecnologia: é garantir que todos tenham oportunidades de participar da sociedade digital.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Uma imagem contendo Forma  Descrição gerada automaticamente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1854994" y="4145756"/>
            <a:ext cx="6650831" cy="1995488"/>
            <a:chOff x="0" y="0"/>
            <a:chExt cx="8867775" cy="2660650"/>
          </a:xfrm>
        </p:grpSpPr>
        <p:sp>
          <p:nvSpPr>
            <p:cNvPr name="Freeform 5" id="5" descr="Logotipo  Descrição gerada automaticamente com confiança baixa"/>
            <p:cNvSpPr/>
            <p:nvPr/>
          </p:nvSpPr>
          <p:spPr>
            <a:xfrm flipH="false" flipV="false" rot="0">
              <a:off x="0" y="0"/>
              <a:ext cx="8867775" cy="2660650"/>
            </a:xfrm>
            <a:custGeom>
              <a:avLst/>
              <a:gdLst/>
              <a:ahLst/>
              <a:cxnLst/>
              <a:rect r="r" b="b" t="t" l="l"/>
              <a:pathLst>
                <a:path h="2660650" w="8867775">
                  <a:moveTo>
                    <a:pt x="0" y="0"/>
                  </a:moveTo>
                  <a:lnTo>
                    <a:pt x="8867775" y="0"/>
                  </a:lnTo>
                  <a:lnTo>
                    <a:pt x="8867775" y="2660650"/>
                  </a:lnTo>
                  <a:lnTo>
                    <a:pt x="0" y="2660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-69" b="0"/>
              </a:stretch>
            </a:blipFill>
          </p:spPr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DAHX8Pb19MI</dc:identifier>
  <dcterms:modified xsi:type="dcterms:W3CDTF">2011-08-01T06:04:30Z</dcterms:modified>
  <cp:revision>1</cp:revision>
  <dc:title>INCLUSAO_DIGITAL.pptx</dc:title>
</cp:coreProperties>
</file>